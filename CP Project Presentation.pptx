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Montserrat Bold" panose="020B0604020202020204" charset="0"/>
      <p:regular r:id="rId13"/>
    </p:embeddedFont>
    <p:embeddedFont>
      <p:font typeface="RQND Pro" panose="020B0604020202020204" charset="0"/>
      <p:regular r:id="rId14"/>
    </p:embeddedFont>
    <p:embeddedFont>
      <p:font typeface="RQND Pro Condensed" panose="020B0604020202020204" charset="0"/>
      <p:regular r:id="rId15"/>
    </p:embeddedFont>
    <p:embeddedFont>
      <p:font typeface="Special Elit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74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46335" y="0"/>
            <a:ext cx="8041665" cy="10287000"/>
            <a:chOff x="0" y="0"/>
            <a:chExt cx="124586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5864" cy="1593725"/>
            </a:xfrm>
            <a:custGeom>
              <a:avLst/>
              <a:gdLst/>
              <a:ahLst/>
              <a:cxnLst/>
              <a:rect l="l" t="t" r="r" b="b"/>
              <a:pathLst>
                <a:path w="1245864" h="1593725">
                  <a:moveTo>
                    <a:pt x="0" y="0"/>
                  </a:moveTo>
                  <a:lnTo>
                    <a:pt x="1245864" y="0"/>
                  </a:lnTo>
                  <a:lnTo>
                    <a:pt x="124586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32965" r="-9445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8232603"/>
            <a:ext cx="8756885" cy="809502"/>
            <a:chOff x="0" y="0"/>
            <a:chExt cx="323259" cy="298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3259" cy="29883"/>
            </a:xfrm>
            <a:custGeom>
              <a:avLst/>
              <a:gdLst/>
              <a:ahLst/>
              <a:cxnLst/>
              <a:rect l="l" t="t" r="r" b="b"/>
              <a:pathLst>
                <a:path w="323259" h="29883">
                  <a:moveTo>
                    <a:pt x="0" y="0"/>
                  </a:moveTo>
                  <a:lnTo>
                    <a:pt x="323259" y="0"/>
                  </a:lnTo>
                  <a:lnTo>
                    <a:pt x="323259" y="29883"/>
                  </a:lnTo>
                  <a:lnTo>
                    <a:pt x="0" y="29883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23259" cy="67983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1766618" y="3078486"/>
            <a:ext cx="13140623" cy="2000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49"/>
              </a:lnSpc>
            </a:pPr>
            <a:r>
              <a:rPr lang="en-US" sz="8499" b="1" dirty="0">
                <a:solidFill>
                  <a:srgbClr val="C2C3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GUARDIAN_KNOT</a:t>
            </a:r>
          </a:p>
          <a:p>
            <a:pPr algn="l">
              <a:lnSpc>
                <a:spcPts val="7649"/>
              </a:lnSpc>
            </a:pPr>
            <a:r>
              <a:rPr lang="en-US" sz="8499" b="1" dirty="0">
                <a:solidFill>
                  <a:srgbClr val="C2C3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534384" y="8180154"/>
            <a:ext cx="9678384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C2C3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Name           </a:t>
            </a:r>
            <a:r>
              <a:rPr lang="en-US" sz="3000" b="1" dirty="0" err="1">
                <a:solidFill>
                  <a:srgbClr val="C2C3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Nimra</a:t>
            </a:r>
            <a:r>
              <a:rPr lang="en-US" sz="3000" b="1" dirty="0">
                <a:solidFill>
                  <a:srgbClr val="C2C3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Mumtaz</a:t>
            </a:r>
          </a:p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C2C3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CMS ID               553839                        </a:t>
            </a:r>
          </a:p>
        </p:txBody>
      </p:sp>
      <p:sp>
        <p:nvSpPr>
          <p:cNvPr id="9" name="Freeform 9"/>
          <p:cNvSpPr/>
          <p:nvPr/>
        </p:nvSpPr>
        <p:spPr>
          <a:xfrm>
            <a:off x="-1139059" y="-2433699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377" y="30617"/>
            <a:ext cx="18551423" cy="10538749"/>
            <a:chOff x="0" y="0"/>
            <a:chExt cx="4885971" cy="27756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5972" cy="2775638"/>
            </a:xfrm>
            <a:custGeom>
              <a:avLst/>
              <a:gdLst/>
              <a:ahLst/>
              <a:cxnLst/>
              <a:rect l="l" t="t" r="r" b="b"/>
              <a:pathLst>
                <a:path w="4885972" h="2775638">
                  <a:moveTo>
                    <a:pt x="0" y="0"/>
                  </a:moveTo>
                  <a:lnTo>
                    <a:pt x="4885972" y="0"/>
                  </a:lnTo>
                  <a:lnTo>
                    <a:pt x="4885972" y="2775638"/>
                  </a:lnTo>
                  <a:lnTo>
                    <a:pt x="0" y="27756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85971" cy="2823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947705" y="-161323"/>
            <a:ext cx="8340295" cy="10469452"/>
          </a:xfrm>
          <a:custGeom>
            <a:avLst/>
            <a:gdLst/>
            <a:ahLst/>
            <a:cxnLst/>
            <a:rect l="l" t="t" r="r" b="b"/>
            <a:pathLst>
              <a:path w="8340295" h="10469452">
                <a:moveTo>
                  <a:pt x="0" y="0"/>
                </a:moveTo>
                <a:lnTo>
                  <a:pt x="8340295" y="0"/>
                </a:lnTo>
                <a:lnTo>
                  <a:pt x="8340295" y="10469452"/>
                </a:lnTo>
                <a:lnTo>
                  <a:pt x="0" y="10469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467" r="-1790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3105" y="971550"/>
            <a:ext cx="4193457" cy="530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  <a:spcBef>
                <a:spcPct val="0"/>
              </a:spcBef>
            </a:pPr>
            <a:r>
              <a:rPr lang="en-US" sz="3124" dirty="0">
                <a:solidFill>
                  <a:srgbClr val="C2C3C3"/>
                </a:solidFill>
                <a:latin typeface="RQND Pro"/>
                <a:ea typeface="RQND Pro"/>
                <a:cs typeface="RQND Pro"/>
                <a:sym typeface="RQND Pro"/>
              </a:rPr>
              <a:t>Safety Gap: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3105" y="2554397"/>
            <a:ext cx="443645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C2C3C3"/>
                </a:solidFill>
                <a:latin typeface="RQND Pro"/>
                <a:ea typeface="RQND Pro"/>
                <a:cs typeface="RQND Pro"/>
                <a:sym typeface="RQND Pro"/>
              </a:rPr>
              <a:t>Coercion Risk: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1604" y="4160948"/>
            <a:ext cx="443645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C2C3C3"/>
                </a:solidFill>
                <a:latin typeface="RQND Pro"/>
                <a:ea typeface="RQND Pro"/>
                <a:cs typeface="RQND Pro"/>
                <a:sym typeface="RQND Pro"/>
              </a:rPr>
              <a:t>Plain-Text Vulnerability: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3105" y="1627662"/>
            <a:ext cx="6934528" cy="1859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848683"/>
                </a:solidFill>
                <a:latin typeface="Special Elite"/>
                <a:ea typeface="Special Elite"/>
                <a:cs typeface="Special Elite"/>
                <a:sym typeface="Special Elite"/>
              </a:rPr>
              <a:t>Traditional security systems don’t check if the user is conscious or physically able to call for help.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848683"/>
              </a:solidFill>
              <a:latin typeface="Special Elite"/>
              <a:ea typeface="Special Elite"/>
              <a:cs typeface="Special Elite"/>
              <a:sym typeface="Special Elite"/>
            </a:endParaRP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848683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03105" y="3230672"/>
            <a:ext cx="6934528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848683"/>
                </a:solidFill>
                <a:latin typeface="Special Elite"/>
                <a:ea typeface="Special Elite"/>
                <a:cs typeface="Special Elite"/>
                <a:sym typeface="Special Elite"/>
              </a:rPr>
              <a:t>In forced entry or kidnapping scenarios, users are often forced to unlock their systems under threat.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1604" y="5025778"/>
            <a:ext cx="6934528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848683"/>
                </a:solidFill>
                <a:latin typeface="Special Elite"/>
                <a:ea typeface="Special Elite"/>
                <a:cs typeface="Special Elite"/>
                <a:sym typeface="Special Elite"/>
              </a:rPr>
              <a:t>Many basic prototypes store user data without encryption, making it easy for intruders to steal credentials.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55474" y="6607363"/>
            <a:ext cx="9525" cy="2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1604" y="6305872"/>
            <a:ext cx="3205014" cy="612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9"/>
              </a:lnSpc>
              <a:spcBef>
                <a:spcPct val="0"/>
              </a:spcBef>
            </a:pPr>
            <a:r>
              <a:rPr lang="en-US" sz="3635" dirty="0">
                <a:solidFill>
                  <a:srgbClr val="C2C3C3"/>
                </a:solidFill>
                <a:latin typeface="RQND Pro"/>
                <a:ea typeface="RQND Pro"/>
                <a:cs typeface="RQND Pro"/>
                <a:sym typeface="RQND Pro"/>
              </a:rPr>
              <a:t>Technical Noise: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500" y="7166030"/>
            <a:ext cx="9559381" cy="1064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65"/>
              </a:lnSpc>
            </a:pPr>
            <a:r>
              <a:rPr lang="en-US" sz="1903" dirty="0">
                <a:solidFill>
                  <a:srgbClr val="848683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</a:p>
          <a:p>
            <a:pPr algn="ctr">
              <a:lnSpc>
                <a:spcPts val="2665"/>
              </a:lnSpc>
            </a:pPr>
            <a:r>
              <a:rPr lang="en-US" sz="1903" dirty="0">
                <a:solidFill>
                  <a:srgbClr val="848683"/>
                </a:solidFill>
                <a:latin typeface="Special Elite"/>
                <a:ea typeface="Special Elite"/>
                <a:cs typeface="Special Elite"/>
                <a:sym typeface="Special Elite"/>
              </a:rPr>
              <a:t> Standard emergency logs are often too </a:t>
            </a:r>
          </a:p>
          <a:p>
            <a:pPr algn="ctr">
              <a:lnSpc>
                <a:spcPts val="2945"/>
              </a:lnSpc>
              <a:spcBef>
                <a:spcPct val="0"/>
              </a:spcBef>
            </a:pPr>
            <a:r>
              <a:rPr lang="en-US" sz="2103" dirty="0">
                <a:solidFill>
                  <a:srgbClr val="848683"/>
                </a:solidFill>
                <a:latin typeface="Special Elite"/>
                <a:ea typeface="Special Elite"/>
                <a:cs typeface="Special Elite"/>
                <a:sym typeface="Special Elite"/>
              </a:rPr>
              <a:t>technical and lack the emotional urgency needed for quick rescue.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750" y="129931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4789" y="2389123"/>
            <a:ext cx="4436458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C2C3C3"/>
                </a:solidFill>
                <a:latin typeface="RQND Pro"/>
                <a:ea typeface="RQND Pro"/>
                <a:cs typeface="RQND Pro"/>
                <a:sym typeface="RQND Pro"/>
              </a:rPr>
              <a:t>Heartbeat Timer: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5642" y="4335081"/>
            <a:ext cx="4436458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C2C3C3"/>
                </a:solidFill>
                <a:latin typeface="RQND Pro"/>
                <a:ea typeface="RQND Pro"/>
                <a:cs typeface="RQND Pro"/>
                <a:sym typeface="RQND Pro"/>
              </a:rPr>
              <a:t>Data Privacy: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5642" y="6457658"/>
            <a:ext cx="4436458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C2C3C3"/>
                </a:solidFill>
                <a:latin typeface="RQND Pro"/>
                <a:ea typeface="RQND Pro"/>
                <a:cs typeface="RQND Pro"/>
                <a:sym typeface="RQND Pro"/>
              </a:rPr>
              <a:t>Hardware Alerts: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4789" y="3286220"/>
            <a:ext cx="5893008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848683"/>
                </a:solidFill>
                <a:latin typeface="Special Elite"/>
                <a:ea typeface="Special Elite"/>
                <a:cs typeface="Special Elite"/>
                <a:sym typeface="Special Elite"/>
              </a:rPr>
              <a:t>Uses time(0) to track user safety in real-time.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5642" y="5317833"/>
            <a:ext cx="5893008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848683"/>
                </a:solidFill>
                <a:latin typeface="Special Elite"/>
                <a:ea typeface="Special Elite"/>
                <a:cs typeface="Special Elite"/>
                <a:sym typeface="Special Elite"/>
              </a:rPr>
              <a:t> Uses Caesar Cipher encryption for all saved files.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5642" y="7438733"/>
            <a:ext cx="5893008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848683"/>
                </a:solidFill>
                <a:latin typeface="Special Elite"/>
                <a:ea typeface="Special Elite"/>
                <a:cs typeface="Special Elite"/>
                <a:sym typeface="Special Elite"/>
              </a:rPr>
              <a:t>Visual (Colors) and Auditory (Beeps) feedback.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5642" y="1560702"/>
            <a:ext cx="6835750" cy="77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1"/>
              </a:lnSpc>
              <a:spcBef>
                <a:spcPct val="0"/>
              </a:spcBef>
            </a:pPr>
            <a:r>
              <a:rPr lang="en-US" sz="2222">
                <a:solidFill>
                  <a:srgbClr val="848683"/>
                </a:solidFill>
                <a:latin typeface="RQND Pro"/>
                <a:ea typeface="RQND Pro"/>
                <a:cs typeface="RQND Pro"/>
                <a:sym typeface="RQND Pro"/>
              </a:rPr>
              <a:t>SEPARATE CODES FOR NORMAL LOGIN AND SILENT EMERGENCY.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6998" y="812069"/>
            <a:ext cx="3376017" cy="52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6"/>
              </a:lnSpc>
              <a:spcBef>
                <a:spcPct val="0"/>
              </a:spcBef>
            </a:pPr>
            <a:r>
              <a:rPr lang="en-US" sz="3061">
                <a:solidFill>
                  <a:srgbClr val="FFFFFF"/>
                </a:solidFill>
                <a:latin typeface="Special Elite"/>
                <a:ea typeface="Special Elite"/>
                <a:cs typeface="Special Elite"/>
                <a:sym typeface="Special Elite"/>
              </a:rPr>
              <a:t>Dual PIN System:</a:t>
            </a:r>
            <a:r>
              <a:rPr lang="en-US" sz="3061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3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144707" y="247745"/>
            <a:ext cx="3086100" cy="780955"/>
            <a:chOff x="0" y="0"/>
            <a:chExt cx="812800" cy="2056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205684"/>
            </a:xfrm>
            <a:custGeom>
              <a:avLst/>
              <a:gdLst/>
              <a:ahLst/>
              <a:cxnLst/>
              <a:rect l="l" t="t" r="r" b="b"/>
              <a:pathLst>
                <a:path w="812800" h="205684">
                  <a:moveTo>
                    <a:pt x="0" y="0"/>
                  </a:moveTo>
                  <a:lnTo>
                    <a:pt x="812800" y="0"/>
                  </a:lnTo>
                  <a:lnTo>
                    <a:pt x="812800" y="205684"/>
                  </a:lnTo>
                  <a:lnTo>
                    <a:pt x="0" y="205684"/>
                  </a:lnTo>
                  <a:close/>
                </a:path>
              </a:pathLst>
            </a:custGeom>
            <a:solidFill>
              <a:srgbClr val="37B4B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12800" cy="253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C2C3C3"/>
                  </a:solidFill>
                  <a:latin typeface="Special Elite"/>
                  <a:ea typeface="Special Elite"/>
                  <a:cs typeface="Special Elite"/>
                  <a:sym typeface="Special Elite"/>
                </a:rPr>
                <a:t>User Login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693481" y="869219"/>
            <a:ext cx="1664550" cy="1818672"/>
            <a:chOff x="0" y="0"/>
            <a:chExt cx="438400" cy="4789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8400" cy="478992"/>
            </a:xfrm>
            <a:custGeom>
              <a:avLst/>
              <a:gdLst/>
              <a:ahLst/>
              <a:cxnLst/>
              <a:rect l="l" t="t" r="r" b="b"/>
              <a:pathLst>
                <a:path w="438400" h="478992">
                  <a:moveTo>
                    <a:pt x="219200" y="478992"/>
                  </a:moveTo>
                  <a:lnTo>
                    <a:pt x="0" y="72592"/>
                  </a:lnTo>
                  <a:lnTo>
                    <a:pt x="203200" y="72592"/>
                  </a:lnTo>
                  <a:lnTo>
                    <a:pt x="203200" y="0"/>
                  </a:lnTo>
                  <a:lnTo>
                    <a:pt x="235200" y="0"/>
                  </a:lnTo>
                  <a:lnTo>
                    <a:pt x="235200" y="72592"/>
                  </a:lnTo>
                  <a:lnTo>
                    <a:pt x="438400" y="72592"/>
                  </a:lnTo>
                  <a:lnTo>
                    <a:pt x="219200" y="478992"/>
                  </a:lnTo>
                  <a:close/>
                </a:path>
              </a:pathLst>
            </a:custGeom>
            <a:solidFill>
              <a:srgbClr val="37B4BE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203200" y="-47625"/>
              <a:ext cx="32000" cy="425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982707" y="2687891"/>
            <a:ext cx="3086100" cy="801306"/>
            <a:chOff x="0" y="0"/>
            <a:chExt cx="812800" cy="2110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211044"/>
            </a:xfrm>
            <a:custGeom>
              <a:avLst/>
              <a:gdLst/>
              <a:ahLst/>
              <a:cxnLst/>
              <a:rect l="l" t="t" r="r" b="b"/>
              <a:pathLst>
                <a:path w="812800" h="211044">
                  <a:moveTo>
                    <a:pt x="0" y="0"/>
                  </a:moveTo>
                  <a:lnTo>
                    <a:pt x="812800" y="0"/>
                  </a:lnTo>
                  <a:lnTo>
                    <a:pt x="812800" y="211044"/>
                  </a:lnTo>
                  <a:lnTo>
                    <a:pt x="0" y="211044"/>
                  </a:lnTo>
                  <a:close/>
                </a:path>
              </a:pathLst>
            </a:custGeom>
            <a:solidFill>
              <a:srgbClr val="37B4B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812800" cy="258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C2C3C3"/>
                  </a:solidFill>
                  <a:latin typeface="Special Elite"/>
                  <a:ea typeface="Special Elite"/>
                  <a:cs typeface="Special Elite"/>
                  <a:sym typeface="Special Elite"/>
                </a:rPr>
                <a:t>Calculate Time Gap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982707" y="5143500"/>
            <a:ext cx="3086100" cy="1940565"/>
            <a:chOff x="0" y="0"/>
            <a:chExt cx="812800" cy="51109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511095"/>
            </a:xfrm>
            <a:custGeom>
              <a:avLst/>
              <a:gdLst/>
              <a:ahLst/>
              <a:cxnLst/>
              <a:rect l="l" t="t" r="r" b="b"/>
              <a:pathLst>
                <a:path w="812800" h="511095">
                  <a:moveTo>
                    <a:pt x="406400" y="0"/>
                  </a:moveTo>
                  <a:lnTo>
                    <a:pt x="812800" y="255548"/>
                  </a:lnTo>
                  <a:lnTo>
                    <a:pt x="406400" y="511095"/>
                  </a:lnTo>
                  <a:lnTo>
                    <a:pt x="0" y="2555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7B4B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39700" y="40220"/>
              <a:ext cx="533400" cy="383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C2C3C3"/>
                  </a:solidFill>
                  <a:latin typeface="Special Elite"/>
                  <a:ea typeface="Special Elite"/>
                  <a:cs typeface="Special Elite"/>
                  <a:sym typeface="Special Elite"/>
                </a:rPr>
                <a:t>Gap &gt; 60s?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693481" y="3333845"/>
            <a:ext cx="1664550" cy="1897114"/>
            <a:chOff x="0" y="0"/>
            <a:chExt cx="438400" cy="49965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38400" cy="499651"/>
            </a:xfrm>
            <a:custGeom>
              <a:avLst/>
              <a:gdLst/>
              <a:ahLst/>
              <a:cxnLst/>
              <a:rect l="l" t="t" r="r" b="b"/>
              <a:pathLst>
                <a:path w="438400" h="499651">
                  <a:moveTo>
                    <a:pt x="219200" y="499651"/>
                  </a:moveTo>
                  <a:lnTo>
                    <a:pt x="0" y="93251"/>
                  </a:lnTo>
                  <a:lnTo>
                    <a:pt x="203200" y="93251"/>
                  </a:lnTo>
                  <a:lnTo>
                    <a:pt x="203200" y="0"/>
                  </a:lnTo>
                  <a:lnTo>
                    <a:pt x="235200" y="0"/>
                  </a:lnTo>
                  <a:lnTo>
                    <a:pt x="235200" y="93251"/>
                  </a:lnTo>
                  <a:lnTo>
                    <a:pt x="438400" y="93251"/>
                  </a:lnTo>
                  <a:lnTo>
                    <a:pt x="219200" y="499651"/>
                  </a:lnTo>
                  <a:close/>
                </a:path>
              </a:pathLst>
            </a:custGeom>
            <a:solidFill>
              <a:srgbClr val="37B4BE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203200" y="-47625"/>
              <a:ext cx="32000" cy="445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534211" y="5273431"/>
            <a:ext cx="2154598" cy="1680702"/>
            <a:chOff x="0" y="0"/>
            <a:chExt cx="567466" cy="44265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67466" cy="442654"/>
            </a:xfrm>
            <a:custGeom>
              <a:avLst/>
              <a:gdLst/>
              <a:ahLst/>
              <a:cxnLst/>
              <a:rect l="l" t="t" r="r" b="b"/>
              <a:pathLst>
                <a:path w="567466" h="442654">
                  <a:moveTo>
                    <a:pt x="567466" y="221327"/>
                  </a:moveTo>
                  <a:lnTo>
                    <a:pt x="161066" y="0"/>
                  </a:lnTo>
                  <a:lnTo>
                    <a:pt x="161066" y="203200"/>
                  </a:lnTo>
                  <a:lnTo>
                    <a:pt x="0" y="203200"/>
                  </a:lnTo>
                  <a:lnTo>
                    <a:pt x="0" y="239454"/>
                  </a:lnTo>
                  <a:lnTo>
                    <a:pt x="161066" y="239454"/>
                  </a:lnTo>
                  <a:lnTo>
                    <a:pt x="161066" y="442654"/>
                  </a:lnTo>
                  <a:lnTo>
                    <a:pt x="567466" y="221327"/>
                  </a:lnTo>
                  <a:close/>
                </a:path>
              </a:pathLst>
            </a:custGeom>
            <a:solidFill>
              <a:srgbClr val="37B4BE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155575"/>
              <a:ext cx="465866" cy="83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661083" y="6888309"/>
            <a:ext cx="1729347" cy="1945342"/>
            <a:chOff x="0" y="0"/>
            <a:chExt cx="455466" cy="51235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5466" cy="512354"/>
            </a:xfrm>
            <a:custGeom>
              <a:avLst/>
              <a:gdLst/>
              <a:ahLst/>
              <a:cxnLst/>
              <a:rect l="l" t="t" r="r" b="b"/>
              <a:pathLst>
                <a:path w="455466" h="512354">
                  <a:moveTo>
                    <a:pt x="227733" y="512354"/>
                  </a:moveTo>
                  <a:lnTo>
                    <a:pt x="0" y="105954"/>
                  </a:lnTo>
                  <a:lnTo>
                    <a:pt x="203200" y="105954"/>
                  </a:lnTo>
                  <a:lnTo>
                    <a:pt x="203200" y="0"/>
                  </a:lnTo>
                  <a:lnTo>
                    <a:pt x="252266" y="0"/>
                  </a:lnTo>
                  <a:lnTo>
                    <a:pt x="252266" y="105954"/>
                  </a:lnTo>
                  <a:lnTo>
                    <a:pt x="455466" y="105954"/>
                  </a:lnTo>
                  <a:lnTo>
                    <a:pt x="227733" y="512354"/>
                  </a:lnTo>
                  <a:close/>
                </a:path>
              </a:pathLst>
            </a:custGeom>
            <a:solidFill>
              <a:srgbClr val="37B4BE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203200" y="-47625"/>
              <a:ext cx="49066" cy="458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144707" y="8857647"/>
            <a:ext cx="3086100" cy="801306"/>
            <a:chOff x="0" y="0"/>
            <a:chExt cx="812800" cy="2110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211044"/>
            </a:xfrm>
            <a:custGeom>
              <a:avLst/>
              <a:gdLst/>
              <a:ahLst/>
              <a:cxnLst/>
              <a:rect l="l" t="t" r="r" b="b"/>
              <a:pathLst>
                <a:path w="812800" h="211044">
                  <a:moveTo>
                    <a:pt x="0" y="0"/>
                  </a:moveTo>
                  <a:lnTo>
                    <a:pt x="812800" y="0"/>
                  </a:lnTo>
                  <a:lnTo>
                    <a:pt x="812800" y="211044"/>
                  </a:lnTo>
                  <a:lnTo>
                    <a:pt x="0" y="211044"/>
                  </a:lnTo>
                  <a:close/>
                </a:path>
              </a:pathLst>
            </a:custGeom>
            <a:solidFill>
              <a:srgbClr val="37B4BE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812800" cy="258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C2C3C3"/>
                  </a:solidFill>
                  <a:latin typeface="Special Elite"/>
                  <a:ea typeface="Special Elite"/>
                  <a:cs typeface="Special Elite"/>
                  <a:sym typeface="Special Elite"/>
                </a:rPr>
                <a:t>SAFE ACCESS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 rot="-70501">
            <a:off x="15695473" y="5775610"/>
            <a:ext cx="2585865" cy="676345"/>
            <a:chOff x="0" y="0"/>
            <a:chExt cx="681051" cy="17813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81051" cy="178132"/>
            </a:xfrm>
            <a:custGeom>
              <a:avLst/>
              <a:gdLst/>
              <a:ahLst/>
              <a:cxnLst/>
              <a:rect l="l" t="t" r="r" b="b"/>
              <a:pathLst>
                <a:path w="681051" h="178132">
                  <a:moveTo>
                    <a:pt x="0" y="0"/>
                  </a:moveTo>
                  <a:lnTo>
                    <a:pt x="681051" y="0"/>
                  </a:lnTo>
                  <a:lnTo>
                    <a:pt x="681051" y="178132"/>
                  </a:lnTo>
                  <a:lnTo>
                    <a:pt x="0" y="178132"/>
                  </a:lnTo>
                  <a:close/>
                </a:path>
              </a:pathLst>
            </a:custGeom>
            <a:solidFill>
              <a:srgbClr val="37B4BE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681051" cy="225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C2C3C3"/>
                  </a:solidFill>
                  <a:latin typeface="Special Elite"/>
                  <a:ea typeface="Special Elite"/>
                  <a:cs typeface="Special Elite"/>
                  <a:sym typeface="Special Elite"/>
                </a:rPr>
                <a:t>TRIGGER RED ALARM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3534211" y="5915345"/>
            <a:ext cx="215459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Yes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628684" y="7684140"/>
            <a:ext cx="172934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67" r="-4327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37686"/>
            <a:ext cx="18288000" cy="10692001"/>
            <a:chOff x="0" y="0"/>
            <a:chExt cx="4816593" cy="28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816000"/>
            </a:xfrm>
            <a:custGeom>
              <a:avLst/>
              <a:gdLst/>
              <a:ahLst/>
              <a:cxnLst/>
              <a:rect l="l" t="t" r="r" b="b"/>
              <a:pathLst>
                <a:path w="4816592" h="2816000">
                  <a:moveTo>
                    <a:pt x="0" y="0"/>
                  </a:moveTo>
                  <a:lnTo>
                    <a:pt x="4816592" y="0"/>
                  </a:lnTo>
                  <a:lnTo>
                    <a:pt x="4816592" y="2816000"/>
                  </a:lnTo>
                  <a:lnTo>
                    <a:pt x="0" y="28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863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552174" y="2749164"/>
            <a:ext cx="8735826" cy="3818706"/>
          </a:xfrm>
          <a:custGeom>
            <a:avLst/>
            <a:gdLst/>
            <a:ahLst/>
            <a:cxnLst/>
            <a:rect l="l" t="t" r="r" b="b"/>
            <a:pathLst>
              <a:path w="8735826" h="3818706">
                <a:moveTo>
                  <a:pt x="0" y="0"/>
                </a:moveTo>
                <a:lnTo>
                  <a:pt x="8735826" y="0"/>
                </a:lnTo>
                <a:lnTo>
                  <a:pt x="8735826" y="3818706"/>
                </a:lnTo>
                <a:lnTo>
                  <a:pt x="0" y="3818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877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03010" y="146500"/>
            <a:ext cx="5098313" cy="1295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1"/>
              </a:lnSpc>
              <a:spcBef>
                <a:spcPct val="0"/>
              </a:spcBef>
            </a:pPr>
            <a:r>
              <a:rPr lang="en-US" sz="3743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Interactive Alerts (Sound &amp; Color)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3648" y="1515087"/>
            <a:ext cx="1980605" cy="53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spcBef>
                <a:spcPct val="0"/>
              </a:spcBef>
            </a:pPr>
            <a:r>
              <a:rPr lang="en-US" sz="3120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Color Coding: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2629975"/>
            <a:ext cx="9019335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spcBef>
                <a:spcPct val="0"/>
              </a:spcBef>
            </a:pPr>
            <a:r>
              <a:rPr lang="en-US" sz="2275" dirty="0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 System uses Red for high-risk alerts </a:t>
            </a:r>
            <a:r>
              <a:rPr lang="en-US" sz="2275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Green for safety confirmation (</a:t>
            </a:r>
            <a:r>
              <a:rPr lang="en-US" sz="2275" dirty="0" err="1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viaSetConsoleTextAttribute</a:t>
            </a:r>
            <a:r>
              <a:rPr lang="en-US" sz="2275" dirty="0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3648" y="3753273"/>
            <a:ext cx="2471886" cy="514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sz="2985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 Emergency Siren: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1648" y="4610892"/>
            <a:ext cx="6964030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pecial Elite"/>
                <a:ea typeface="Special Elite"/>
                <a:cs typeface="Special Elite"/>
                <a:sym typeface="Special Elite"/>
              </a:rPr>
              <a:t>A loud 2500Hz frequency beep is used to grab immediate attention during a timeout.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6167" y="5707537"/>
            <a:ext cx="263678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Psychological Edge: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739" y="6788942"/>
            <a:ext cx="7018939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Colors and sounds are designed to alert bystanders while keeping the user informed of the system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42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220345" y="1737310"/>
            <a:ext cx="11067655" cy="5313242"/>
          </a:xfrm>
          <a:custGeom>
            <a:avLst/>
            <a:gdLst/>
            <a:ahLst/>
            <a:cxnLst/>
            <a:rect l="l" t="t" r="r" b="b"/>
            <a:pathLst>
              <a:path w="11067655" h="5313242">
                <a:moveTo>
                  <a:pt x="0" y="0"/>
                </a:moveTo>
                <a:lnTo>
                  <a:pt x="11067655" y="0"/>
                </a:lnTo>
                <a:lnTo>
                  <a:pt x="11067655" y="5313242"/>
                </a:lnTo>
                <a:lnTo>
                  <a:pt x="0" y="531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3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43111" y="354900"/>
            <a:ext cx="9664007" cy="411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3700">
                <a:solidFill>
                  <a:srgbClr val="C2C3C3"/>
                </a:solidFill>
                <a:latin typeface="RQND Pro"/>
                <a:ea typeface="RQND Pro"/>
                <a:cs typeface="RQND Pro"/>
                <a:sym typeface="RQND Pro"/>
              </a:rPr>
              <a:t>HUMAN-CENTRIC EMERGENCY LOGS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840" y="1746756"/>
            <a:ext cx="2706291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Simple Language:t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6840" y="2636558"/>
            <a:ext cx="5969539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pecial Elite"/>
                <a:ea typeface="Special Elite"/>
                <a:cs typeface="Special Elite"/>
                <a:sym typeface="Special Elite"/>
              </a:rPr>
              <a:t>Logs are recorded in clear English for non-technical rescuers.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6840" y="3874544"/>
            <a:ext cx="3094732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Silent Duress Alert: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420" y="4889646"/>
            <a:ext cx="6146379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Records a "Silent Cry for Help" in the background without alerting the intruder.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3406" y="6519691"/>
            <a:ext cx="3041600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Timestamp Tracking: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7393452"/>
            <a:ext cx="6146379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-US" sz="2199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Every second of the delay is logged for legal and medical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91137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35530" y="737563"/>
            <a:ext cx="12333188" cy="8229600"/>
          </a:xfrm>
          <a:custGeom>
            <a:avLst/>
            <a:gdLst/>
            <a:ahLst/>
            <a:cxnLst/>
            <a:rect l="l" t="t" r="r" b="b"/>
            <a:pathLst>
              <a:path w="12333188" h="8229600">
                <a:moveTo>
                  <a:pt x="0" y="0"/>
                </a:moveTo>
                <a:lnTo>
                  <a:pt x="12333188" y="0"/>
                </a:lnTo>
                <a:lnTo>
                  <a:pt x="123331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76110" y="285114"/>
            <a:ext cx="9501917" cy="542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5100">
                <a:solidFill>
                  <a:srgbClr val="C2C3C3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CONCLUSION &amp; FUTURE ENHANCEMENTS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799" y="1564506"/>
            <a:ext cx="1757801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Summary</a:t>
            </a:r>
            <a:r>
              <a:rPr lang="en-US" sz="3199">
                <a:solidFill>
                  <a:srgbClr val="C2C3C3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2474558"/>
            <a:ext cx="8385731" cy="146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ctr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Successfully developed a time-sensitive security system that prioritizes human safety through interval monitoring and encryption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100">
              <a:solidFill>
                <a:srgbClr val="C2C3C3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22934" y="3911928"/>
            <a:ext cx="2495104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Key Achievement: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9799" y="4804738"/>
            <a:ext cx="8385731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Integrated a "Silent Duress" mode that allows users to call for help without alerting an intruder.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2934" y="5920433"/>
            <a:ext cx="1879848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RQND Pro Condensed"/>
                <a:ea typeface="RQND Pro Condensed"/>
                <a:cs typeface="RQND Pro Condensed"/>
                <a:sym typeface="RQND Pro Condensed"/>
              </a:rPr>
              <a:t>Future 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1266" y="6861372"/>
            <a:ext cx="8027068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pecial Elite"/>
                <a:ea typeface="Special Elite"/>
                <a:cs typeface="Special Elite"/>
                <a:sym typeface="Special Elite"/>
              </a:rPr>
              <a:t>Connecting the code with GSM Modules to send automated SMS alerts to local authorities.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5529" y="7639636"/>
            <a:ext cx="8385731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pecial Elite"/>
                <a:ea typeface="Special Elite"/>
                <a:cs typeface="Special Elite"/>
                <a:sym typeface="Special Elite"/>
              </a:rPr>
              <a:t>Using Pulse Oximeter sensors to trigger alerts if the user's heart rate becomes abnormal.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529" y="8417899"/>
            <a:ext cx="8350002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Special Elite"/>
                <a:ea typeface="Special Elite"/>
                <a:cs typeface="Special Elite"/>
                <a:sym typeface="Special Elite"/>
              </a:rPr>
              <a:t>Implementing a Mobile App interface for remote monitoring.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40370" y="2043676"/>
            <a:ext cx="13037759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"In the silence of an emergency, every second counts. This system is the voice for the unresponsive."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9793" y="5291713"/>
            <a:ext cx="3052911" cy="762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C2C3C3"/>
                </a:solidFill>
                <a:latin typeface="Special Elite"/>
                <a:ea typeface="Special Elite"/>
                <a:cs typeface="Special Elite"/>
                <a:sym typeface="Special Elite"/>
              </a:rPr>
              <a:t>Thank You!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403</Words>
  <Application>Microsoft Office PowerPoint</Application>
  <PresentationFormat>Custom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Montserrat Bold</vt:lpstr>
      <vt:lpstr>Calibri</vt:lpstr>
      <vt:lpstr>Arial</vt:lpstr>
      <vt:lpstr>RQND Pro</vt:lpstr>
      <vt:lpstr>Special Elite</vt:lpstr>
      <vt:lpstr>RQND Pro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Blue Modern Gradient Cybersecurity Presentation</dc:title>
  <cp:lastModifiedBy>KLH</cp:lastModifiedBy>
  <cp:revision>4</cp:revision>
  <dcterms:created xsi:type="dcterms:W3CDTF">2006-08-16T00:00:00Z</dcterms:created>
  <dcterms:modified xsi:type="dcterms:W3CDTF">2026-04-23T08:15:31Z</dcterms:modified>
  <dc:identifier>DAHF91sSRgw</dc:identifier>
</cp:coreProperties>
</file>